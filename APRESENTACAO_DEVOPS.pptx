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3031e12e5b34801" /><Relationship Type="http://schemas.openxmlformats.org/package/2006/relationships/metadata/core-properties" Target="/docProps/core.xml" Id="R90f0def7190c420d" /><Relationship Type="http://schemas.openxmlformats.org/officeDocument/2006/relationships/extended-properties" Target="/docProps/app.xml" Id="R704ae0aa179447cc" /><Relationship Type="http://schemas.openxmlformats.org/officeDocument/2006/relationships/custom-properties" Target="/docProps/custom.xml" Id="R06dcbce3b5d34cf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a735d0ae927e43fa"/>
  </p:notesMasterIdLst>
  <p:sldIdLst>
    <p:sldId id="263" r:id="Rda9a404872df4bfb"/>
    <p:sldId id="264" r:id="Re39c05807b8340ef"/>
    <p:sldId id="265" r:id="Rc524d632bc9542d1"/>
    <p:sldId id="266" r:id="R7d345409fc2748c3"/>
    <p:sldId id="267" r:id="Rb8f5cb0ccfc24809"/>
    <p:sldId id="268" r:id="R392444eb28624c07"/>
    <p:sldId id="269" r:id="R076f82cf87f64ee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notesMaster" Target="/ppt/notesMasters/notesMaster1.xml" Id="Ra735d0ae927e43fa" /><Relationship Type="http://schemas.openxmlformats.org/officeDocument/2006/relationships/slide" Target="/ppt/slides/slide8.xml" Id="Rda9a404872df4bfb" /><Relationship Type="http://schemas.openxmlformats.org/officeDocument/2006/relationships/slide" Target="/ppt/slides/slide9.xml" Id="Re39c05807b8340ef" /><Relationship Type="http://schemas.openxmlformats.org/officeDocument/2006/relationships/slide" Target="/ppt/slides/slide10.xml" Id="Rc524d632bc9542d1" /><Relationship Type="http://schemas.openxmlformats.org/officeDocument/2006/relationships/slide" Target="/ppt/slides/slide11.xml" Id="R7d345409fc2748c3" /><Relationship Type="http://schemas.openxmlformats.org/officeDocument/2006/relationships/slide" Target="/ppt/slides/slide12.xml" Id="Rb8f5cb0ccfc24809" /><Relationship Type="http://schemas.openxmlformats.org/officeDocument/2006/relationships/slide" Target="/ppt/slides/slide13.xml" Id="R392444eb28624c07" /><Relationship Type="http://schemas.openxmlformats.org/officeDocument/2006/relationships/slide" Target="/ppt/slides/slide14.xml" Id="R076f82cf87f64e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c9df162493e41cb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fed31dfb939426e" /><Relationship Type="http://schemas.openxmlformats.org/officeDocument/2006/relationships/slide" Target="/ppt/slides/slide8.xml" Id="Rfc5df71fc33141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92386c88cd7461f" /><Relationship Type="http://schemas.openxmlformats.org/officeDocument/2006/relationships/slide" Target="/ppt/slides/slide9.xml" Id="R112533e4434549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54f00387e374e3b" /><Relationship Type="http://schemas.openxmlformats.org/officeDocument/2006/relationships/slide" Target="/ppt/slides/slide10.xml" Id="R7c9f6f1bc11a40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47d95997e9049bd" /><Relationship Type="http://schemas.openxmlformats.org/officeDocument/2006/relationships/slide" Target="/ppt/slides/slide11.xml" Id="R664caea9e16d4a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e40c0fabf8446a9" /><Relationship Type="http://schemas.openxmlformats.org/officeDocument/2006/relationships/slide" Target="/ppt/slides/slide12.xml" Id="R24161721da404d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db8fc9d48a041e7" /><Relationship Type="http://schemas.openxmlformats.org/officeDocument/2006/relationships/slide" Target="/ppt/slides/slide13.xml" Id="Rc8fee39d773f4d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48b44dde3a64b93" /><Relationship Type="http://schemas.openxmlformats.org/officeDocument/2006/relationships/slide" Target="/ppt/slides/slide14.xml" Id="R0423e2c04e8e4438" /></Relationship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Apresentação do Desafio DevOps Cidades ESG Inteligentes.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Pipeline automatizado de integração e entrega contínua.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Estratégia de containerização multi-stage e segurança.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Orquestração completa cobrindo Staging e Produção no Compose e Kubernetes.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Evidências da suíte de testes e execução do pipeline.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Validação dos ambientes em execução.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Conclusão e checklist de entrega.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40a3a6edd40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ffa657ce2e45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21c9c7ec3442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ded82c56d4b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db1f944644ff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35a18b3fee8470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83ebe75864090" /><Relationship Type="http://schemas.openxmlformats.org/officeDocument/2006/relationships/notesSlide" Target="/ppt/notesSlides/notesSlide8.xml" Id="R69f94fde21534d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149e181a0404d" /><Relationship Type="http://schemas.openxmlformats.org/officeDocument/2006/relationships/notesSlide" Target="/ppt/notesSlides/notesSlide9.xml" Id="Rfe5870c134d448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1ae23eb224b85" /><Relationship Type="http://schemas.openxmlformats.org/officeDocument/2006/relationships/notesSlide" Target="/ppt/notesSlides/notesSlide10.xml" Id="R866adc9565ef40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dcff1a75f408c" /><Relationship Type="http://schemas.openxmlformats.org/officeDocument/2006/relationships/notesSlide" Target="/ppt/notesSlides/notesSlide11.xml" Id="R84e193a0d0304e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7af8abfd24bc1" /><Relationship Type="http://schemas.openxmlformats.org/officeDocument/2006/relationships/notesSlide" Target="/ppt/notesSlides/notesSlide12.xml" Id="R50b1ecedf09345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b50e4350241a3" /><Relationship Type="http://schemas.openxmlformats.org/officeDocument/2006/relationships/notesSlide" Target="/ppt/notesSlides/notesSlide13.xml" Id="Rd60406eeef8946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ff29812d14912" /><Relationship Type="http://schemas.openxmlformats.org/officeDocument/2006/relationships/notesSlide" Target="/ppt/notesSlides/notesSlide14.xml" Id="Rb54a246297e5413e" /></Relationships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14" name="Title"/>
          <p:cNvSpPr txBox="1"/>
          <p:nvPr/>
        </p:nvSpPr>
        <p:spPr>
          <a:xfrm xmlns:a="http://schemas.openxmlformats.org/drawingml/2006/main">
            <a:off x="720000" y="720000"/>
            <a:ext cx="104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38BDF8"/>
                </a:solidFill>
              </a:rPr>
              <a:t>DESAFIO DEVOPS</a:t>
            </a:r>
          </a:p>
          <a:p xmlns:a="http://schemas.openxmlformats.org/drawingml/2006/main">
            <a:r>
              <a:rPr lang="en-US" sz="3600" b="1">
                <a:solidFill>
                  <a:srgbClr val="38BDF8"/>
                </a:solidFill>
              </a:rPr>
              <a:t>Cidades ESG Inteligentes</a:t>
            </a:r>
          </a:p>
        </p:txBody>
      </p:sp>
      <p:sp>
        <p:nvSpPr>
          <p:cNvPr id="100015" name="Subtitle"/>
          <p:cNvSpPr txBox="1"/>
          <p:nvPr/>
        </p:nvSpPr>
        <p:spPr>
          <a:xfrm xmlns:a="http://schemas.openxmlformats.org/drawingml/2006/main">
            <a:off x="720000" y="2520000"/>
            <a:ext cx="1044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8FAFC"/>
                </a:solidFill>
              </a:rPr>
              <a:t>Pipeline CI/CD, Containerização Docker e Orquestração Multi-Ambiente (K8s &amp; Compose)</a:t>
            </a:r>
          </a:p>
          <a:p xmlns:a="http://schemas.openxmlformats.org/drawingml/2006/main">
            <a:r>
              <a:rPr lang="en-US" sz="2000">
                <a:solidFill>
                  <a:srgbClr val="F8FAFC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8FAFC"/>
                </a:solidFill>
              </a:rPr>
              <a:t>Integrantes: Catarina Costa (Lead) e Equipe FIAP</a:t>
            </a:r>
          </a:p>
          <a:p xmlns:a="http://schemas.openxmlformats.org/drawingml/2006/main">
            <a:r>
              <a:rPr lang="en-US" sz="2000">
                <a:solidFill>
                  <a:srgbClr val="F8FAFC"/>
                </a:solidFill>
              </a:rPr>
              <a:t>Fase: Navegando pelo mundo DevOps | Outubro 2026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16" name="Title"/>
          <p:cNvSpPr txBox="1"/>
          <p:nvPr/>
        </p:nvSpPr>
        <p:spPr>
          <a:xfrm xmlns:a="http://schemas.openxmlformats.org/drawingml/2006/main">
            <a:off x="720000" y="5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BDF8"/>
                </a:solidFill>
              </a:rPr>
              <a:t>1. Pipeline CI/CD (GitHub Actions)</a:t>
            </a:r>
          </a:p>
        </p:txBody>
      </p:sp>
      <p:sp>
        <p:nvSpPr>
          <p:cNvPr id="100017" name="Body"/>
          <p:cNvSpPr txBox="1"/>
          <p:nvPr/>
        </p:nvSpPr>
        <p:spPr>
          <a:xfrm xmlns:a="http://schemas.openxmlformats.org/drawingml/2006/main">
            <a:off x="720000" y="1440000"/>
            <a:ext cx="1044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• Ferramenta: GitHub Actions (.github/workflows/ci-cd.yml)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• Triggers: Push &amp; Pull Request nas branches main e develop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4 Estágios Automatizados: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1. Build &amp; Testes: Compilação JDK 21 Temurin + Execução da suíte JUnit 5 com Flapdoodle 4.23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2. Docker Build &amp; Push: Build Multi-Stage e envio ao GitHub Container Registry (ghcr.io)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3. Deploy Staging: Provisionamento automático na porta 8081 com polling de healthcheck real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4. Deploy Produção: Publicação em alta disponibilidade na porta 8080 com verificação pós-deploy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18" name="Title"/>
          <p:cNvSpPr txBox="1"/>
          <p:nvPr/>
        </p:nvSpPr>
        <p:spPr>
          <a:xfrm xmlns:a="http://schemas.openxmlformats.org/drawingml/2006/main">
            <a:off x="720000" y="5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BDF8"/>
                </a:solidFill>
              </a:rPr>
              <a:t>2. Containerização &amp; Dockerfile</a:t>
            </a:r>
          </a:p>
        </p:txBody>
      </p:sp>
      <p:sp>
        <p:nvSpPr>
          <p:cNvPr id="100019" name="Body"/>
          <p:cNvSpPr txBox="1"/>
          <p:nvPr/>
        </p:nvSpPr>
        <p:spPr>
          <a:xfrm xmlns:a="http://schemas.openxmlformats.org/drawingml/2006/main">
            <a:off x="720000" y="1440000"/>
            <a:ext cx="1044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• Arquitetura Multi-Stage Build: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Builder: eclipse-temurin:21-jdk-alpine com Maven Wrapper 3.3.2 corrigido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Runner: eclipse-temurin:21-jre-alpine (imagem mínima e enxuta, ~180MB)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• Segurança e Resiliência: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Execução com usuário de sistema não-root (appuser:appgroup)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Healthcheck nativo integrado com endpoints do Spring Boot Actuator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Otimização de camadas de cache Maven e .dockerignore estruturado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20" name="Title"/>
          <p:cNvSpPr txBox="1"/>
          <p:nvPr/>
        </p:nvSpPr>
        <p:spPr>
          <a:xfrm xmlns:a="http://schemas.openxmlformats.org/drawingml/2006/main">
            <a:off x="720000" y="5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BDF8"/>
                </a:solidFill>
              </a:rPr>
              <a:t>3. Orquestração (Kubernetes &amp; Compose)</a:t>
            </a:r>
          </a:p>
        </p:txBody>
      </p:sp>
      <p:sp>
        <p:nvSpPr>
          <p:cNvPr id="100021" name="Body"/>
          <p:cNvSpPr txBox="1"/>
          <p:nvPr/>
        </p:nvSpPr>
        <p:spPr>
          <a:xfrm xmlns:a="http://schemas.openxmlformats.org/drawingml/2006/main">
            <a:off x="720000" y="1440000"/>
            <a:ext cx="1044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• Docker Compose (Ambientes Isolados):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docker-compose.staging.yml: Staging isolado na porta 8081 / DB 27018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docker-compose.prod.yml: Produção isolada na porta 8080 com restart: always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• Kubernetes (pasta kubernetes/):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Namespaces dedicados: cidades-esg-staging e cidades-esg-prod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Staging: PVC 3GB, 1 réplica, Service ClusterIP 8081, Ingress staging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Produção: PVC 10GB, 2 réplicas com limites de CPU/memória, probes e Ingress prod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22" name="Title"/>
          <p:cNvSpPr txBox="1"/>
          <p:nvPr/>
        </p:nvSpPr>
        <p:spPr>
          <a:xfrm xmlns:a="http://schemas.openxmlformats.org/drawingml/2006/main">
            <a:off x="720000" y="5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BDF8"/>
                </a:solidFill>
              </a:rPr>
              <a:t>4. Evidências: Testes e Pipeline</a:t>
            </a:r>
          </a:p>
        </p:txBody>
      </p:sp>
      <p:sp>
        <p:nvSpPr>
          <p:cNvPr id="100023" name="Body"/>
          <p:cNvSpPr txBox="1"/>
          <p:nvPr/>
        </p:nvSpPr>
        <p:spPr>
          <a:xfrm xmlns:a="http://schemas.openxmlformats.org/drawingml/2006/main">
            <a:off x="720000" y="1440000"/>
            <a:ext cx="1044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• Execução da Suíte de Testes (JUnit 5):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CidadesEsgIntegrationTest: Validação de cadastro e autenticação JWT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JwtUtilsTest: Geração, integridade criptográfica e expiração de tokens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AuthServiceTest: Regras de negócio e controle de acesso RBAC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Resultado: 100% dos testes aprovados, relatórios Surefire gerados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• Publicação de Artefatos: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Imagens Docker tageadas com commit SHA e branch no ghcr.io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24" name="Title"/>
          <p:cNvSpPr txBox="1"/>
          <p:nvPr/>
        </p:nvSpPr>
        <p:spPr>
          <a:xfrm xmlns:a="http://schemas.openxmlformats.org/drawingml/2006/main">
            <a:off x="720000" y="5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BDF8"/>
                </a:solidFill>
              </a:rPr>
              <a:t>5. Evidências: Staging e Produção</a:t>
            </a:r>
          </a:p>
        </p:txBody>
      </p:sp>
      <p:sp>
        <p:nvSpPr>
          <p:cNvPr id="100025" name="Body"/>
          <p:cNvSpPr txBox="1"/>
          <p:nvPr/>
        </p:nvSpPr>
        <p:spPr>
          <a:xfrm xmlns:a="http://schemas.openxmlformats.org/drawingml/2006/main">
            <a:off x="720000" y="1440000"/>
            <a:ext cx="1044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• Ambiente Staging (:8081):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Healthcheck: http://localhost:8081/actuator/health -&gt; Status 200 UP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Banco MongoDB Staging isolado (porta 27018)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• Ambiente Produção (:8080):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Endpoint: http://localhost:8080/api/auth/login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Resposta: HTTP 200 OK com Token Bearer e perfil GESTOR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- Módulos ESG operacionais (Metas ODS, Projetos de Descarbonização, IA)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26" name="Title"/>
          <p:cNvSpPr txBox="1"/>
          <p:nvPr/>
        </p:nvSpPr>
        <p:spPr>
          <a:xfrm xmlns:a="http://schemas.openxmlformats.org/drawingml/2006/main">
            <a:off x="720000" y="5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BDF8"/>
                </a:solidFill>
              </a:rPr>
              <a:t>6. Desafios Superados &amp; Checklist</a:t>
            </a:r>
          </a:p>
        </p:txBody>
      </p:sp>
      <p:sp>
        <p:nvSpPr>
          <p:cNvPr id="100027" name="Body"/>
          <p:cNvSpPr txBox="1"/>
          <p:nvPr/>
        </p:nvSpPr>
        <p:spPr>
          <a:xfrm xmlns:a="http://schemas.openxmlformats.org/drawingml/2006/main">
            <a:off x="720000" y="1440000"/>
            <a:ext cx="1044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• Desafios Técnicos Corrigidos: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1. Substituição do maven-wrapper.jar corrompido pela versão oficial 3.3.2 (~61KB)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2. Correção da dependência Flapdoodle para flapdoodle.embed.mongo.spring3x:4.23.0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3. Refatoração 100% genuína do domínio para Cidades ESG (br.com.cidades.esg)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4. Cobertura completa de manifests Kubernetes para Staging e Produção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• Checklist Obrigatório de Entrega: 100% OK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2026-10-09T21:07:02Z</dcterms:created>
  <cp:lastModifiedBy>OfficeCLI</cp:lastModifiedBy>
  <dcterms:modified xsi:type="dcterms:W3CDTF">2026-10-09T21:07:02Z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2026-10-09T22:15:14Z</vt:lpwstr>
  </op:property>
</op:Properties>
</file>