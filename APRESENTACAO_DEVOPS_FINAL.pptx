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3031e12e5b34801" Type="http://schemas.openxmlformats.org/officeDocument/2006/relationships/officeDocument" Target="ppt/presentation.xml"/><Relationship Id="R06dcbce3b5d34cfd" Type="http://schemas.openxmlformats.org/officeDocument/2006/relationships/custom-properties" Target="docProps/custom.xml"/><Relationship Id="R704ae0aa179447cc" Type="http://schemas.openxmlformats.org/officeDocument/2006/relationships/extended-properties" Target="docProps/app.xml"/><Relationship Id="R90f0def7190c420d" Type="http://schemas.openxmlformats.org/package/2006/relationships/metadata/core-properties" Target="docProps/core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a735d0ae927e43fa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1999" cy="6858000"/>
  <p:notesSz cx="6858000" cy="9144000"/>
</p:presentation>
</file>

<file path=ppt/_rels/presentation.xml.rels><?xml version='1.0' encoding='UTF-8' standalone='yes'?>
<Relationships xmlns="http://schemas.openxmlformats.org/package/2006/relationships"><Relationship Id="Ra735d0ae927e43fa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9c9df162493e41cb" Type="http://schemas.openxmlformats.org/officeDocument/2006/relationships/theme" Target="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Base: APRESENTACAO_DEVOPS.pptx. Fontes: README.md e DOCUMENTACAO_DEVOPS.md atualizados. Repositório: https://github.com/eMrtc/cidades-esg-devops. Não foram fornecidos 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se apresentam métricas de impacto ESG. Evidências limitadas ao processo DevOps e à saúde da aplicação.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real da execução #7: Melhoria de código e texto. Os URLs mostrados são metadados do workflow e não comprovam hospedagem pública permanente. Cada deploy é validado em seu runner temporário.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Dockerfile multi-stage documentado. Os volumes preservam dados no mesmo ambiente Docker, sem garantia entre runners. Imagem publicada no GHCR; deploys demonstrados usam Docker Compose com build. Não há evidência de cluster Kubernetes implantado.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 dos números: DOCUMENTACAO_DEVOPS.md, seção 5.1. Não foi fornecida captura específica do Maven; a evidência de pipeline confirma sucesso do job. Não se afirma cobertura percentual ou teste de login autenticado em produção. Testes não reexecutados nesta tarefa.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integral: evidencias/staging-healthcheck.png. Sem recorte ou distorção. Logs confirmam HTTP 200 e status UP da aplicação e do MongoDB. Validação por Docker Compose em runner temporário do GitHub Actions, sem hospedagem pública permanente.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integral: evidencias/producao-healthcheck.png. Sem recorte ou distorção. Logs confirmam HTTP 200 e status UP da aplicação e do MongoDB. Validação por Docker Compose em runner temporário do GitHub Actions, sem hospedagem pública permanente.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DOCUMENTACAO_DEVOPS.md, seção 6. Histórico já documentado; nenhum código ou configuração foi alterado durante esta tarefa.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README e documentação preservados. Sem commit ou push. Deploys validados em runners temporários, sem hospedagem pública permanente. Kubernetes não implantado nas evidências.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99a40a3a6edd40ec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83ffa657ce2e45a5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3a21c9c7ec34422a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8d7ded82c56d4bc3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ad1db1f944644ff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735a18b3fee8470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310896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062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2D6B2"/>
                </a:solidFill>
                <a:latin typeface="Aptos"/>
              </a:defRPr>
            </a:pPr>
            <a:r>
              <a:t>DESAFIO DEVOPS | NAVEGANDO PELO MUNDO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100023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F4F7FB"/>
                </a:solidFill>
                <a:latin typeface="Aptos"/>
              </a:defRPr>
            </a:pPr>
            <a:r>
              <a:t>Cidades ESG Inteligentes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B8C8D9"/>
                </a:solidFill>
                <a:latin typeface="Aptos"/>
              </a:defRPr>
            </a:pPr>
            <a:r>
              <a:t>FIAP  |  Cidades ESG Inteligentes  |  Outubro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B8C8D9"/>
                </a:solidFill>
                <a:latin typeface="Aptos"/>
              </a:defRPr>
            </a:pPr>
            <a:r>
              <a:t>01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600" b="1">
                <a:solidFill>
                  <a:srgbClr val="F4F7FB"/>
                </a:solidFill>
                <a:latin typeface="Aptos"/>
              </a:defRPr>
            </a:pPr>
            <a:r>
              <a:t>DevOps aplicado à sustentabilidade</a:t>
            </a:r>
          </a:p>
          <a:p>
            <a:pPr>
              <a:spcAft>
                <a:spcPts val="900"/>
              </a:spcAft>
              <a:defRPr sz="3600" b="1">
                <a:solidFill>
                  <a:srgbClr val="F4F7FB"/>
                </a:solidFill>
                <a:latin typeface="Aptos"/>
              </a:defRPr>
            </a:pPr>
            <a:r>
              <a:t>e à governança urbana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657600"/>
            <a:ext cx="1143000" cy="54864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09651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F4F7FB"/>
                </a:solidFill>
                <a:latin typeface="Aptos"/>
              </a:defRPr>
            </a:pPr>
            <a:r>
              <a:t>Enzo Martini  |  Catarina Costa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64608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B8C8D9"/>
                </a:solidFill>
                <a:latin typeface="Aptos"/>
              </a:defRPr>
            </a:pPr>
            <a:r>
              <a:t>Java 21   /   Spring Boot 3.3.5   /   MongoDB 7</a:t>
            </a:r>
          </a:p>
          <a:p>
            <a:pPr>
              <a:spcAft>
                <a:spcPts val="900"/>
              </a:spcAft>
              <a:defRPr sz="1900" b="0">
                <a:solidFill>
                  <a:srgbClr val="B8C8D9"/>
                </a:solidFill>
                <a:latin typeface="Aptos"/>
              </a:defRPr>
            </a:pPr>
            <a:r>
              <a:t>GitHub Actions   /   Docker   /   Docker Compose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310896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062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2D6B2"/>
                </a:solidFill>
                <a:latin typeface="Aptos"/>
              </a:defRPr>
            </a:pPr>
            <a:r>
              <a:t>01 |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100023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F4F7FB"/>
                </a:solidFill>
                <a:latin typeface="Aptos"/>
              </a:defRPr>
            </a:pPr>
            <a:r>
              <a:t>Objetivo ESG e escopo da entrega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B8C8D9"/>
                </a:solidFill>
                <a:latin typeface="Aptos"/>
              </a:defRPr>
            </a:pPr>
            <a:r>
              <a:t>FIAP  |  Cidades ESG Inteligentes  |  Outubro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B8C8D9"/>
                </a:solidFill>
                <a:latin typeface="Aptos"/>
              </a:defRPr>
            </a:pPr>
            <a:r>
              <a:t>02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5349240" cy="1828800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039112"/>
            <a:ext cx="494690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42D6B2"/>
                </a:solidFill>
                <a:latin typeface="Aptos"/>
              </a:defRPr>
            </a:pPr>
            <a:r>
              <a:t>Sustentabilidade e governança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587752"/>
            <a:ext cx="4946903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4F7FB"/>
                </a:solidFill>
                <a:latin typeface="Aptos"/>
              </a:defRPr>
            </a:pPr>
            <a:r>
              <a:t>Backend voltado à gestão de iniciativas ESG no contexto urbano.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5349240" cy="1828800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039112"/>
            <a:ext cx="494690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42D6B2"/>
                </a:solidFill>
                <a:latin typeface="Aptos"/>
              </a:defRPr>
            </a:pPr>
            <a:r>
              <a:t>Ciclo de vida automatizado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587752"/>
            <a:ext cx="4946903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4F7FB"/>
                </a:solidFill>
                <a:latin typeface="Aptos"/>
              </a:defRPr>
            </a:pPr>
            <a:r>
              <a:t>Compilar, testar, empacotar e validar os ambientes de staging e produção.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977639"/>
            <a:ext cx="5349240" cy="1828800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142231"/>
            <a:ext cx="494690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42D6B2"/>
                </a:solidFill>
                <a:latin typeface="Aptos"/>
              </a:defRPr>
            </a:pPr>
            <a:r>
              <a:t>Base da aplicação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690872"/>
            <a:ext cx="4946903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4F7FB"/>
                </a:solidFill>
                <a:latin typeface="Aptos"/>
              </a:defRPr>
            </a:pPr>
            <a:r>
              <a:t>API REST com Java 21, Spring Boot 3.3.5, MongoDB 7 e autenticação JWT.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977639"/>
            <a:ext cx="5349240" cy="1828800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4142231"/>
            <a:ext cx="494690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42D6B2"/>
                </a:solidFill>
                <a:latin typeface="Aptos"/>
              </a:defRPr>
            </a:pPr>
            <a:r>
              <a:t>Escopo demonstrado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690872"/>
            <a:ext cx="4946903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4F7FB"/>
                </a:solidFill>
                <a:latin typeface="Aptos"/>
              </a:defRPr>
            </a:pPr>
            <a:r>
              <a:t>Deploys via Docker Compose em runners temporários do GitHub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310896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062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2D6B2"/>
                </a:solidFill>
                <a:latin typeface="Aptos"/>
              </a:defRPr>
            </a:pPr>
            <a:r>
              <a:t>02 | GITHUB ACTIONS / EXECUÇÃO #7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100023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F4F7FB"/>
                </a:solidFill>
                <a:latin typeface="Aptos"/>
              </a:defRPr>
            </a:pPr>
            <a:r>
              <a:t>Pipeline CI/CD: quatro etapas aprovadas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B8C8D9"/>
                </a:solidFill>
                <a:latin typeface="Aptos"/>
              </a:defRPr>
            </a:pPr>
            <a:r>
              <a:t>FIAP  |  Cidades ESG Inteligentes  |  Outubro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B8C8D9"/>
                </a:solidFill>
                <a:latin typeface="Aptos"/>
              </a:defRPr>
            </a:pPr>
            <a:r>
              <a:t>03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01368"/>
            <a:ext cx="2615184" cy="822960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892807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2D6B2"/>
                </a:solidFill>
                <a:latin typeface="Aptos"/>
              </a:defRPr>
            </a:pPr>
            <a:r>
              <a:t>01  Build e testes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67712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F4F7FB"/>
                </a:solidFill>
                <a:latin typeface="Aptos"/>
              </a:defRPr>
            </a:pPr>
            <a:r>
              <a:t>Java 21 + Maven / JUnit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2424" y="1801368"/>
            <a:ext cx="2615184" cy="822960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892807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2D6B2"/>
                </a:solidFill>
                <a:latin typeface="Aptos"/>
              </a:defRPr>
            </a:pPr>
            <a:r>
              <a:t>02  Docker Build &amp; Push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267712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F4F7FB"/>
                </a:solidFill>
                <a:latin typeface="Aptos"/>
              </a:defRPr>
            </a:pPr>
            <a:r>
              <a:t>Imagem publicada no GHCR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1801368"/>
            <a:ext cx="2615184" cy="822960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1892807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2D6B2"/>
                </a:solidFill>
                <a:latin typeface="Aptos"/>
              </a:defRPr>
            </a:pPr>
            <a:r>
              <a:t>03  Staging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267712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F4F7FB"/>
                </a:solidFill>
                <a:latin typeface="Aptos"/>
              </a:defRPr>
            </a:pPr>
            <a:r>
              <a:t>Compose + healthcheck :8081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88552" y="1801368"/>
            <a:ext cx="2615184" cy="822960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892807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2D6B2"/>
                </a:solidFill>
                <a:latin typeface="Aptos"/>
              </a:defRPr>
            </a:pPr>
            <a:r>
              <a:t>04  Produção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267712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F4F7FB"/>
                </a:solidFill>
                <a:latin typeface="Aptos"/>
              </a:defRPr>
            </a:pPr>
            <a:r>
              <a:t>Compose + healthcheck :8080</a:t>
            </a:r>
          </a:p>
        </p:txBody>
      </p:sp>
      <p:pic>
        <p:nvPicPr>
          <p:cNvPr id="20" name="pipeline-ci-cd.png" descr="pipeline-ci-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13" y="2807207"/>
            <a:ext cx="10990125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310896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062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2D6B2"/>
                </a:solidFill>
                <a:latin typeface="Aptos"/>
              </a:defRPr>
            </a:pPr>
            <a:r>
              <a:t>03 | EMPACOTAMENTO E SERVIÇOS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100023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F4F7FB"/>
                </a:solidFill>
                <a:latin typeface="Aptos"/>
              </a:defRPr>
            </a:pPr>
            <a:r>
              <a:t>Arquitetura Docker e orquestração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B8C8D9"/>
                </a:solidFill>
                <a:latin typeface="Aptos"/>
              </a:defRPr>
            </a:pPr>
            <a:r>
              <a:t>FIAP  |  Cidades ESG Inteligentes  |  Outubro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B8C8D9"/>
                </a:solidFill>
                <a:latin typeface="Aptos"/>
              </a:defRPr>
            </a:pPr>
            <a:r>
              <a:t>04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4800600" cy="1737360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039112"/>
            <a:ext cx="43982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42D6B2"/>
                </a:solidFill>
                <a:latin typeface="Aptos"/>
              </a:defRPr>
            </a:pPr>
            <a:r>
              <a:t>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587752"/>
            <a:ext cx="4398264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4F7FB"/>
                </a:solidFill>
                <a:latin typeface="Aptos"/>
              </a:defRPr>
            </a:pPr>
            <a:r>
              <a:t>Temurin 21 JDK Alpine + Maven Wrapper</a:t>
            </a:r>
          </a:p>
          <a:p>
            <a:pPr>
              <a:spcAft>
                <a:spcPts val="900"/>
              </a:spcAft>
              <a:defRPr sz="1900" b="0">
                <a:solidFill>
                  <a:srgbClr val="F4F7FB"/>
                </a:solidFill>
                <a:latin typeface="Aptos"/>
              </a:defRPr>
            </a:pPr>
            <a:r>
              <a:t>Compila o código e gera o JAR.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251460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42D6B2"/>
                </a:solidFill>
                <a:latin typeface="Aptos"/>
              </a:defRPr>
            </a:pPr>
            <a:r>
              <a:t>JAR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5349240" cy="1737360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039112"/>
            <a:ext cx="494690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42D6B2"/>
                </a:solidFill>
                <a:latin typeface="Aptos"/>
              </a:defRPr>
            </a:pPr>
            <a:r>
              <a:t>Runner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587752"/>
            <a:ext cx="4946903" cy="96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4F7FB"/>
                </a:solidFill>
                <a:latin typeface="Aptos"/>
              </a:defRPr>
            </a:pPr>
            <a:r>
              <a:t>Temurin 21 JRE Alpine + JAR</a:t>
            </a:r>
          </a:p>
          <a:p>
            <a:pPr>
              <a:spcAft>
                <a:spcPts val="900"/>
              </a:spcAft>
              <a:defRPr sz="1900" b="0">
                <a:solidFill>
                  <a:srgbClr val="F4F7FB"/>
                </a:solidFill>
                <a:latin typeface="Aptos"/>
              </a:defRPr>
            </a:pPr>
            <a:r>
              <a:t>Execução com usuário não-root.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840480"/>
            <a:ext cx="10972800" cy="1417320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416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42D6B2"/>
                </a:solidFill>
                <a:latin typeface="Aptos"/>
              </a:defRPr>
            </a:pPr>
            <a:r>
              <a:t>Docker Compose: Spring Boot + MongoDB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4F7FB"/>
                </a:solidFill>
                <a:latin typeface="Aptos"/>
              </a:defRPr>
            </a:pPr>
            <a:r>
              <a:t>Staging :8081  |  Produção :8080  |  Redes, volumes e variáveis por ambiente</a:t>
            </a:r>
          </a:p>
          <a:p>
            <a:pPr>
              <a:spcAft>
                <a:spcPts val="900"/>
              </a:spcAft>
              <a:defRPr sz="1800" b="0">
                <a:solidFill>
                  <a:srgbClr val="F4F7FB"/>
                </a:solidFill>
                <a:latin typeface="Aptos"/>
              </a:defRPr>
            </a:pPr>
            <a:r>
              <a:t>Saúde: /actuator/health  |  JWT de produção via GitHub Actions Secret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5961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B8C8D9"/>
                </a:solidFill>
                <a:latin typeface="Aptos"/>
              </a:defRPr>
            </a:pPr>
            <a:r>
              <a:t>Kubernetes: manifests de referência presentes; implantação não demonstrada.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310896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062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2D6B2"/>
                </a:solidFill>
                <a:latin typeface="Aptos"/>
              </a:defRPr>
            </a:pPr>
            <a:r>
              <a:t>04 | 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100023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F4F7FB"/>
                </a:solidFill>
                <a:latin typeface="Aptos"/>
              </a:defRPr>
            </a:pPr>
            <a:r>
              <a:t>Testes automatizados e validação de saúde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B8C8D9"/>
                </a:solidFill>
                <a:latin typeface="Aptos"/>
              </a:defRPr>
            </a:pPr>
            <a:r>
              <a:t>FIAP  |  Cidades ESG Inteligentes  |  Outubro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B8C8D9"/>
                </a:solidFill>
                <a:latin typeface="Aptos"/>
              </a:defRPr>
            </a:pPr>
            <a:r>
              <a:t>05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3474720" cy="1600200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301752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4800" b="1">
                <a:solidFill>
                  <a:srgbClr val="42D6B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F4F7FB"/>
                </a:solidFill>
                <a:latin typeface="Aptos"/>
              </a:defRPr>
            </a:pPr>
            <a:r>
              <a:t>testes executados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874519"/>
            <a:ext cx="3474720" cy="1600200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01752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4800" b="1">
                <a:solidFill>
                  <a:srgbClr val="42D6B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986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F4F7FB"/>
                </a:solidFill>
                <a:latin typeface="Aptos"/>
              </a:defRPr>
            </a:pPr>
            <a:r>
              <a:t>falhas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874519"/>
            <a:ext cx="3474720" cy="1600200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01752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4800" b="1">
                <a:solidFill>
                  <a:srgbClr val="42D6B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8986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F4F7FB"/>
                </a:solidFill>
                <a:latin typeface="Aptos"/>
              </a:defRPr>
            </a:pPr>
            <a:r>
              <a:t>erros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30752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F4F7FB"/>
                </a:solidFill>
                <a:latin typeface="Aptos"/>
              </a:defRPr>
            </a:pPr>
            <a:r>
              <a:t>BUILD SUCCESS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462272"/>
            <a:ext cx="109728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F4F7FB"/>
                </a:solidFill>
                <a:latin typeface="Aptos"/>
              </a:defRPr>
            </a:pPr>
            <a:r>
              <a:t>JUnit 5, Mockito e MongoDB embarcado com Flapdoodle.</a:t>
            </a:r>
          </a:p>
          <a:p>
            <a:pPr>
              <a:spcAft>
                <a:spcPts val="900"/>
              </a:spcAft>
              <a:defRPr sz="2300" b="0">
                <a:solidFill>
                  <a:srgbClr val="F4F7FB"/>
                </a:solidFill>
                <a:latin typeface="Aptos"/>
              </a:defRPr>
            </a:pPr>
            <a:r>
              <a:t>Relatórios gerados pelo Maven Surefire na etapa de CI.</a:t>
            </a:r>
          </a:p>
          <a:p>
            <a:pPr>
              <a:spcAft>
                <a:spcPts val="900"/>
              </a:spcAft>
              <a:defRPr sz="2300" b="0">
                <a:solidFill>
                  <a:srgbClr val="F4F7FB"/>
                </a:solidFill>
                <a:latin typeface="Aptos"/>
              </a:defRPr>
            </a:pPr>
            <a:r>
              <a:t>Smoke tests consultam /actuator/health e exigem HTTP 200.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310896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062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2D6B2"/>
                </a:solidFill>
                <a:latin typeface="Aptos"/>
              </a:defRPr>
            </a:pPr>
            <a:r>
              <a:t>05 | EVIDÊNCIA REAL / EXECUÇÃO #7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100023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F4F7FB"/>
                </a:solidFill>
                <a:latin typeface="Aptos"/>
              </a:defRPr>
            </a:pPr>
            <a:r>
              <a:t>Staging: aplicação e MongoDB com status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B8C8D9"/>
                </a:solidFill>
                <a:latin typeface="Aptos"/>
              </a:defRPr>
            </a:pPr>
            <a:r>
              <a:t>FIAP  |  Cidades ESG Inteligentes  |  Outubro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B8C8D9"/>
                </a:solidFill>
                <a:latin typeface="Aptos"/>
              </a:defRPr>
            </a:pPr>
            <a:r>
              <a:t>06 / 09</a:t>
            </a:r>
          </a:p>
        </p:txBody>
      </p:sp>
      <p:pic>
        <p:nvPicPr>
          <p:cNvPr id="8" name="staging-healthcheck.png" descr="staging-health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82" y="1755648"/>
            <a:ext cx="10484787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071616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42D6B2"/>
                </a:solidFill>
                <a:latin typeface="Aptos"/>
              </a:defRPr>
            </a:pPr>
            <a:r>
              <a:t>HTTP 200  |  localhost:8081/actuator/health  |  Runner temporário do GitHub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310896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062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2D6B2"/>
                </a:solidFill>
                <a:latin typeface="Aptos"/>
              </a:defRPr>
            </a:pPr>
            <a:r>
              <a:t>06 | EVIDÊNCIA REAL / EXECUÇÃO #7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100023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F4F7FB"/>
                </a:solidFill>
                <a:latin typeface="Aptos"/>
              </a:defRPr>
            </a:pPr>
            <a:r>
              <a:t>Produção: aplicação e MongoDB com status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B8C8D9"/>
                </a:solidFill>
                <a:latin typeface="Aptos"/>
              </a:defRPr>
            </a:pPr>
            <a:r>
              <a:t>FIAP  |  Cidades ESG Inteligentes  |  Outubro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B8C8D9"/>
                </a:solidFill>
                <a:latin typeface="Aptos"/>
              </a:defRPr>
            </a:pPr>
            <a:r>
              <a:t>07 / 09</a:t>
            </a:r>
          </a:p>
        </p:txBody>
      </p:sp>
      <p:pic>
        <p:nvPicPr>
          <p:cNvPr id="8" name="producao-healthcheck.png" descr="producao-health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121" y="1755648"/>
            <a:ext cx="8540708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071616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42D6B2"/>
                </a:solidFill>
                <a:latin typeface="Aptos"/>
              </a:defRPr>
            </a:pPr>
            <a:r>
              <a:t>HTTP 200  |  localhost:8080/actuator/health  |  Runner temporário do GitHub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310896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062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2D6B2"/>
                </a:solidFill>
                <a:latin typeface="Aptos"/>
              </a:defRPr>
            </a:pPr>
            <a:r>
              <a:t>07 | PROBLEMA E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100023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F4F7FB"/>
                </a:solidFill>
                <a:latin typeface="Aptos"/>
              </a:defRPr>
            </a:pPr>
            <a:r>
              <a:t>Desafios resolvidos durante o projeto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B8C8D9"/>
                </a:solidFill>
                <a:latin typeface="Aptos"/>
              </a:defRPr>
            </a:pPr>
            <a:r>
              <a:t>FIAP  |  Cidades ESG Inteligentes  |  Outubro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B8C8D9"/>
                </a:solidFill>
                <a:latin typeface="Aptos"/>
              </a:defRPr>
            </a:pPr>
            <a:r>
              <a:t>08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47088"/>
            <a:ext cx="11000232" cy="694944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42D6B2"/>
                </a:solidFill>
                <a:latin typeface="Aptos"/>
              </a:defRPr>
            </a:pPr>
            <a:r>
              <a:t>Maven Wrapper no Windows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011680"/>
            <a:ext cx="7040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4F7FB"/>
                </a:solidFill>
                <a:latin typeface="Aptos"/>
              </a:defRPr>
            </a:pPr>
            <a:r>
              <a:t>Chamada explícita à classe do wrapper via Java 21.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79192"/>
            <a:ext cx="11000232" cy="694944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4378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42D6B2"/>
                </a:solidFill>
                <a:latin typeface="Aptos"/>
              </a:defRPr>
            </a:pPr>
            <a:r>
              <a:t>MongoDB embarcado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843784"/>
            <a:ext cx="7040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4F7FB"/>
                </a:solidFill>
                <a:latin typeface="Aptos"/>
              </a:defRPr>
            </a:pPr>
            <a:r>
              <a:t>Versão 6.0.14 configurada para o Flapdoodle nos testes.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511296"/>
            <a:ext cx="11000232" cy="694944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75887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42D6B2"/>
                </a:solidFill>
                <a:latin typeface="Aptos"/>
              </a:defRPr>
            </a:pPr>
            <a:r>
              <a:t>Dependências da suíte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675887"/>
            <a:ext cx="7040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4F7FB"/>
                </a:solidFill>
                <a:latin typeface="Aptos"/>
              </a:defRPr>
            </a:pPr>
            <a:r>
              <a:t>commons-lang3 3.17.0 declarado no escopo de testes.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343400"/>
            <a:ext cx="11000232" cy="694944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0799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42D6B2"/>
                </a:solidFill>
                <a:latin typeface="Aptos"/>
              </a:defRPr>
            </a:pPr>
            <a:r>
              <a:t>JWT de produção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507992"/>
            <a:ext cx="7040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4F7FB"/>
                </a:solidFill>
                <a:latin typeface="Aptos"/>
              </a:defRPr>
            </a:pPr>
            <a:r>
              <a:t>Secret JWT_SECRET_PROD configurado no GitHub Actions.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175504"/>
            <a:ext cx="11000232" cy="694944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40096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42D6B2"/>
                </a:solidFill>
                <a:latin typeface="Aptos"/>
              </a:defRPr>
            </a:pPr>
            <a:r>
              <a:t>Inicialização dos serviços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340096"/>
            <a:ext cx="7040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4F7FB"/>
                </a:solidFill>
                <a:latin typeface="Aptos"/>
              </a:defRPr>
            </a:pPr>
            <a:r>
              <a:t>Smoke tests aguardam a aplicação e exigem HTTP 200.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310896"/>
          </a:xfrm>
          <a:prstGeom prst="rect">
            <a:avLst/>
          </a:prstGeom>
          <a:solidFill>
            <a:srgbClr val="42D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2062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2D6B2"/>
                </a:solidFill>
                <a:latin typeface="Aptos"/>
              </a:defRPr>
            </a:pPr>
            <a:r>
              <a:t>08 | STATUS DOS ARTEFATOS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100023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F4F7FB"/>
                </a:solidFill>
                <a:latin typeface="Aptos"/>
              </a:defRPr>
            </a:pPr>
            <a:r>
              <a:t>Checklist obrigatório e preparação da entrega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1000232" cy="10972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10058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B8C8D9"/>
                </a:solidFill>
                <a:latin typeface="Aptos"/>
              </a:defRPr>
            </a:pPr>
            <a:r>
              <a:t>FIAP  |  Cidades ESG Inteligentes  |  Outubro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B8C8D9"/>
                </a:solidFill>
                <a:latin typeface="Aptos"/>
              </a:defRPr>
            </a:pPr>
            <a:r>
              <a:t>09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10512"/>
            <a:ext cx="11000232" cy="448056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92807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4F7FB"/>
                </a:solidFill>
                <a:latin typeface="Aptos"/>
              </a:defRPr>
            </a:pPr>
            <a:r>
              <a:t>Projeto compactado em ZIP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3248" y="1810512"/>
            <a:ext cx="5961888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42D6B2"/>
                </a:solidFill>
                <a:latin typeface="Aptos"/>
              </a:defRPr>
            </a:pPr>
            <a:r>
              <a:t>Concluído: ZIP gerado e conferido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322576"/>
            <a:ext cx="11000232" cy="448056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40487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4F7FB"/>
                </a:solidFill>
                <a:latin typeface="Aptos"/>
              </a:defRPr>
            </a:pPr>
            <a:r>
              <a:t>Dockerfile funcional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3248" y="2404872"/>
            <a:ext cx="59618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42D6B2"/>
                </a:solidFill>
                <a:latin typeface="Aptos"/>
              </a:defRPr>
            </a:pPr>
            <a:r>
              <a:t>Concluído: build da imagem no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834640"/>
            <a:ext cx="11000232" cy="448056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91693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4F7FB"/>
                </a:solidFill>
                <a:latin typeface="Aptos"/>
              </a:defRPr>
            </a:pPr>
            <a:r>
              <a:t>Docker Compose / arquivos Kubernetes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2916936"/>
            <a:ext cx="59618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42D6B2"/>
                </a:solidFill>
                <a:latin typeface="Aptos"/>
              </a:defRPr>
            </a:pPr>
            <a:r>
              <a:t>Concluído: arquivos presentes no projeto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346704"/>
            <a:ext cx="11000232" cy="448056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4290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4F7FB"/>
                </a:solidFill>
                <a:latin typeface="Aptos"/>
              </a:defRPr>
            </a:pPr>
            <a:r>
              <a:t>Pipeline com build, testes e 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3429000"/>
            <a:ext cx="59618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42D6B2"/>
                </a:solidFill>
                <a:latin typeface="Aptos"/>
              </a:defRPr>
            </a:pPr>
            <a:r>
              <a:t>Concluído: quatro jobs aprovados na execução #7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858768"/>
            <a:ext cx="11000232" cy="448056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94106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4F7FB"/>
                </a:solidFill>
                <a:latin typeface="Aptos"/>
              </a:defRPr>
            </a:pPr>
            <a:r>
              <a:t>README com instruções e prints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3941064"/>
            <a:ext cx="59618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42D6B2"/>
                </a:solidFill>
                <a:latin typeface="Aptos"/>
              </a:defRPr>
            </a:pPr>
            <a:r>
              <a:t>Concluído localmente: três evidências referenciadas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370832"/>
            <a:ext cx="11000232" cy="448056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45312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4F7FB"/>
                </a:solidFill>
                <a:latin typeface="Aptos"/>
              </a:defRPr>
            </a:pPr>
            <a:r>
              <a:t>Documentação técnica com evidências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4453128"/>
            <a:ext cx="59618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42D6B2"/>
                </a:solidFill>
                <a:latin typeface="Aptos"/>
              </a:defRPr>
            </a:pPr>
            <a:r>
              <a:t>Concluído: apresentação final com capturas reais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882896"/>
            <a:ext cx="11000232" cy="448056"/>
          </a:xfrm>
          <a:prstGeom prst="rect">
            <a:avLst/>
          </a:prstGeom>
          <a:solidFill>
            <a:srgbClr val="1B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6519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4F7FB"/>
                </a:solidFill>
                <a:latin typeface="Aptos"/>
              </a:defRPr>
            </a:pPr>
            <a:r>
              <a:t>Deploy em staging e produção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3248" y="4965192"/>
            <a:ext cx="59618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42D6B2"/>
                </a:solidFill>
                <a:latin typeface="Aptos"/>
              </a:defRPr>
            </a:pPr>
            <a:r>
              <a:t>Concluído: HTTP 200 em runners temporários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632704"/>
            <a:ext cx="110002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B8C8D9"/>
                </a:solidFill>
                <a:latin typeface="Aptos"/>
              </a:defRPr>
            </a:pPr>
            <a:r>
              <a:t>Entrega: incluir fontes, Compose, workflow, README, evidências e apresentação.</a:t>
            </a:r>
          </a:p>
          <a:p>
            <a:pPr>
              <a:spcAft>
                <a:spcPts val="900"/>
              </a:spcAft>
              <a:defRPr sz="1700" b="0">
                <a:solidFill>
                  <a:srgbClr val="B8C8D9"/>
                </a:solidFill>
                <a:latin typeface="Aptos"/>
              </a:defRPr>
            </a:pPr>
            <a:r>
              <a:t>Excluir .env com segredos, .git/ e target/. Revisar o ZIP antes do envio.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Enzo Martini e Catarina Costa</dc:creator>
  <dcterms:created xsi:type="dcterms:W3CDTF">2026-10-09T21:07:02Z</dcterms:created>
  <cp:lastModifiedBy>OfficeCLI</cp:lastModifiedBy>
  <dcterms:modified xsi:type="dcterms:W3CDTF">2026-10-09T21:07:02Z</dcterms:modified>
  <dc:title>Cidades ESG Inteligentes — Desafio DevOps FIAP</dc:title>
  <dc:subject>CI/CD, Docker Compose e evidências reais da execução #7</dc:subject>
  <dc:description>Conteúdo revisado com README.md e DOCUMENTACAO_DEVOPS.md.</dc:description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1.0.156</vt:lpwstr>
  </op:property>
  <op:property fmtid="{D5CDD505-2E9C-101B-9397-08002B2CF9AE}" pid="3" name="OfficeCLI.LastModified">
    <vt:lpwstr xmlns:vt="http://schemas.openxmlformats.org/officeDocument/2006/docPropsVTypes">2026-10-09T22:15:14Z</vt:lpwstr>
  </op:property>
</op:Properties>
</file>